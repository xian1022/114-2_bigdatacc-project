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3B4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3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160520"/>
            <a:ext cx="3840480" cy="1051560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88720" y="4050791"/>
            <a:ext cx="3840480" cy="1051560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834640" y="3941063"/>
            <a:ext cx="3840480" cy="1051560"/>
          </a:xfrm>
          <a:prstGeom prst="ellipse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7772400" cy="6858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JhengHei"/>
              </a:rPr>
              <a:t>海洋環境資料儀表板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48840"/>
            <a:ext cx="6492240" cy="34747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800" b="0">
                <a:solidFill>
                  <a:srgbClr val="90E0EF"/>
                </a:solidFill>
                <a:latin typeface="Microsoft JhengHei"/>
              </a:rPr>
              <a:t>114-2 巨量資料與雲端運算期末專題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2743200"/>
            <a:ext cx="12801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Microsoft JhengHei"/>
              </a:rPr>
              <a:t>小組專題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7400" y="3246120"/>
            <a:ext cx="822960" cy="25603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7400" y="3287268"/>
            <a:ext cx="82296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Python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3246120"/>
            <a:ext cx="82296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287268"/>
            <a:ext cx="82296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Pandas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3246120"/>
            <a:ext cx="822960" cy="25603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60520" y="3287268"/>
            <a:ext cx="82296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Matplotlib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12079" y="3246120"/>
            <a:ext cx="82296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12079" y="3287268"/>
            <a:ext cx="82296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Gradio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246120"/>
            <a:ext cx="822960" cy="25603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287268"/>
            <a:ext cx="82296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Docker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4041648"/>
            <a:ext cx="5212080" cy="56692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0">
                <a:solidFill>
                  <a:srgbClr val="FFFFFF"/>
                </a:solidFill>
                <a:latin typeface="Microsoft JhengHei"/>
              </a:rPr>
              <a:t>組員 1：________  學號：________    組員 2：________  學號：________
組員 3：________  學號：________    組員 4：________  學號：________
組員 5：________  學號：________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報告大綱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以四個部分說明專題從背景到成果的完整流程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234440"/>
            <a:ext cx="3703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234440"/>
            <a:ext cx="73152" cy="9601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362456"/>
            <a:ext cx="34472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73B4C"/>
                </a:solidFill>
                <a:latin typeface="Microsoft JhengHei"/>
              </a:rPr>
              <a:t>01  背景介紹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09928"/>
            <a:ext cx="3447287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313F"/>
                </a:solidFill>
                <a:latin typeface="Microsoft JhengHei"/>
              </a:rPr>
              <a:t>專題背景、動機與目的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234440"/>
            <a:ext cx="3703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234440"/>
            <a:ext cx="73152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362456"/>
            <a:ext cx="34472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73B4C"/>
                </a:solidFill>
                <a:latin typeface="Microsoft JhengHei"/>
              </a:rPr>
              <a:t>02  系統流程與方法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1709928"/>
            <a:ext cx="3447287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313F"/>
                </a:solidFill>
                <a:latin typeface="Microsoft JhengHei"/>
              </a:rPr>
              <a:t>架構、資料處理與使用技術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560320"/>
            <a:ext cx="3703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560320"/>
            <a:ext cx="731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688336"/>
            <a:ext cx="34472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73B4C"/>
                </a:solidFill>
                <a:latin typeface="Microsoft JhengHei"/>
              </a:rPr>
              <a:t>03  結果與展示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3035808"/>
            <a:ext cx="3447287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313F"/>
                </a:solidFill>
                <a:latin typeface="Microsoft JhengHei"/>
              </a:rPr>
              <a:t>資料視覺化、Gradio 與 Docker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00600" y="2560320"/>
            <a:ext cx="37033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800600" y="2560320"/>
            <a:ext cx="73152" cy="9601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65192" y="2688336"/>
            <a:ext cx="34472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700" b="1">
                <a:solidFill>
                  <a:srgbClr val="073B4C"/>
                </a:solidFill>
                <a:latin typeface="Microsoft JhengHei"/>
              </a:rPr>
              <a:t>04  結論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3035808"/>
            <a:ext cx="3447287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00" b="0">
                <a:solidFill>
                  <a:srgbClr val="12313F"/>
                </a:solidFill>
                <a:latin typeface="Microsoft JhengHei"/>
              </a:rPr>
              <a:t>專題成果與未來改善方向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背景介紹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海洋環境資料能協助觀察不同海域與時間的變化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271016"/>
            <a:ext cx="109728" cy="109728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1207008"/>
            <a:ext cx="44622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50" b="0">
                <a:solidFill>
                  <a:srgbClr val="12313F"/>
                </a:solidFill>
                <a:latin typeface="Microsoft JhengHei"/>
              </a:rPr>
              <a:t>海洋環境資料包含海溫、潮位、浪高、風速、鹽度等資訊。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1618488"/>
            <a:ext cx="109728" cy="109728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54480"/>
            <a:ext cx="44622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50" b="0">
                <a:solidFill>
                  <a:srgbClr val="12313F"/>
                </a:solidFill>
                <a:latin typeface="Microsoft JhengHei"/>
              </a:rPr>
              <a:t>這些資料可用於觀察不同海域的環境變化。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1965960"/>
            <a:ext cx="109728" cy="109728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" y="1901952"/>
            <a:ext cx="44622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50" b="0">
                <a:solidFill>
                  <a:srgbClr val="12313F"/>
                </a:solidFill>
                <a:latin typeface="Microsoft JhengHei"/>
              </a:rPr>
              <a:t>對海事活動、港口管理、漁業活動與海洋觀測都有參考價值。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313432"/>
            <a:ext cx="109728" cy="109728"/>
          </a:xfrm>
          <a:prstGeom prst="ellipse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" y="2249424"/>
            <a:ext cx="44622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50" b="0">
                <a:solidFill>
                  <a:srgbClr val="12313F"/>
                </a:solidFill>
                <a:latin typeface="Microsoft JhengHei"/>
              </a:rPr>
              <a:t>透過儀表板呈現資料，能讓使用者更快速理解資料趨勢。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15000" y="1051560"/>
            <a:ext cx="2560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715000" y="1051560"/>
            <a:ext cx="73152" cy="71323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1179576"/>
            <a:ext cx="23042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73B4C"/>
                </a:solidFill>
                <a:latin typeface="Microsoft JhengHei"/>
              </a:rPr>
              <a:t>海象觀測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79592" y="1527048"/>
            <a:ext cx="2304287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2313F"/>
                </a:solidFill>
                <a:latin typeface="Microsoft JhengHei"/>
              </a:rPr>
              <a:t>蒐集多測站環境資訊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2011680"/>
            <a:ext cx="2560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15000" y="2011680"/>
            <a:ext cx="73152" cy="71323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79592" y="2139696"/>
            <a:ext cx="23042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73B4C"/>
                </a:solidFill>
                <a:latin typeface="Microsoft JhengHei"/>
              </a:rPr>
              <a:t>港口管理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79592" y="2487168"/>
            <a:ext cx="2304287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2313F"/>
                </a:solidFill>
                <a:latin typeface="Microsoft JhengHei"/>
              </a:rPr>
              <a:t>支援海域活動判斷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15000" y="2971800"/>
            <a:ext cx="2560320" cy="7132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15000" y="2971800"/>
            <a:ext cx="73152" cy="71323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79592" y="3099816"/>
            <a:ext cx="23042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73B4C"/>
                </a:solidFill>
                <a:latin typeface="Microsoft JhengHei"/>
              </a:rPr>
              <a:t>資料趨勢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79592" y="3447288"/>
            <a:ext cx="2304287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2313F"/>
                </a:solidFill>
                <a:latin typeface="Microsoft JhengHei"/>
              </a:rPr>
              <a:t>用圖表快速理解變化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專題動機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將表格資料轉換成可互動分析的資料應用系統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pic>
        <p:nvPicPr>
          <p:cNvPr id="7" name="Picture 6" descr="sample_data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5748"/>
            <a:ext cx="3474720" cy="100380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70432" y="2468880"/>
            <a:ext cx="210312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73B4C"/>
                </a:solidFill>
                <a:latin typeface="Microsoft JhengHei"/>
              </a:rPr>
              <a:t>原始 CSV / 表格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041648" y="1627632"/>
            <a:ext cx="1024128" cy="384048"/>
          </a:xfrm>
          <a:prstGeom prst="rightArrow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cean_dashboard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727" y="960120"/>
            <a:ext cx="2379129" cy="18470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06440" y="2862072"/>
            <a:ext cx="2194560" cy="25603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073B4C"/>
                </a:solidFill>
                <a:latin typeface="Microsoft JhengHei"/>
              </a:rPr>
              <a:t>互動式儀表板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29000"/>
            <a:ext cx="822960" cy="22860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JhengHei"/>
              </a:rPr>
              <a:t>重點句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383280"/>
            <a:ext cx="896112" cy="292608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45920" y="3401568"/>
            <a:ext cx="6675120" cy="38404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2313F"/>
                </a:solidFill>
                <a:latin typeface="Microsoft JhengHei"/>
              </a:rPr>
              <a:t>將原始海洋資料轉換成可互動分析、可視覺化呈現、可 Docker 部署的資料應用系統。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專題目的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以三個目標串起資料處理、分析視覺化與部署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196596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545336"/>
            <a:ext cx="216712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73B4C"/>
                </a:solidFill>
                <a:latin typeface="Microsoft JhengHei"/>
              </a:rPr>
              <a:t>建立資料清洗流程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892808"/>
            <a:ext cx="2167128" cy="1399031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12313F"/>
                </a:solidFill>
                <a:latin typeface="Microsoft JhengHei"/>
              </a:rPr>
              <a:t>使用 Pandas 處理日期格式、缺失值、重複資料與數值欄位。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417320" y="3584448"/>
            <a:ext cx="548640" cy="25603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3625596"/>
            <a:ext cx="54864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79" y="141732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83279" y="1417320"/>
            <a:ext cx="73152" cy="19659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47872" y="1545336"/>
            <a:ext cx="216712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73B4C"/>
                </a:solidFill>
                <a:latin typeface="Microsoft JhengHei"/>
              </a:rPr>
              <a:t>建立分析與視覺化功能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47872" y="1892808"/>
            <a:ext cx="2167128" cy="1399031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12313F"/>
                </a:solidFill>
                <a:latin typeface="Microsoft JhengHei"/>
              </a:rPr>
              <a:t>使用 NumPy、Pandas、Matplotlib 產生統計摘要與圖表。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40" y="3584448"/>
            <a:ext cx="54864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6240" y="3625596"/>
            <a:ext cx="54864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1417320"/>
            <a:ext cx="242316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72200" y="1417320"/>
            <a:ext cx="73152" cy="1965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36792" y="1545336"/>
            <a:ext cx="216712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73B4C"/>
                </a:solidFill>
                <a:latin typeface="Microsoft JhengHei"/>
              </a:rPr>
              <a:t>建立可部署互動系統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36792" y="1892808"/>
            <a:ext cx="2167128" cy="1399031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20" b="0">
                <a:solidFill>
                  <a:srgbClr val="12313F"/>
                </a:solidFill>
                <a:latin typeface="Microsoft JhengHei"/>
              </a:rPr>
              <a:t>使用 Gradio 建立網頁介面，並透過 Docker 容器化部署。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95159" y="3584448"/>
            <a:ext cx="548640" cy="25603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95159" y="3625596"/>
            <a:ext cx="54864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系統架構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CSV 資料經過清洗、分析與視覺化後，以 Gradio + Docker 展示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" y="16002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" y="1764792"/>
            <a:ext cx="868680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73B4C"/>
                </a:solidFill>
                <a:latin typeface="Microsoft JhengHei"/>
              </a:rPr>
              <a:t>CSV 資料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335024" y="1764792"/>
            <a:ext cx="201168" cy="164592"/>
          </a:xfrm>
          <a:prstGeom prst="rightArrow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572768" y="16002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18488" y="1764792"/>
            <a:ext cx="868680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73B4C"/>
                </a:solidFill>
                <a:latin typeface="Microsoft JhengHei"/>
              </a:rPr>
              <a:t>資料讀取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560320" y="1764792"/>
            <a:ext cx="201168" cy="164592"/>
          </a:xfrm>
          <a:prstGeom prst="rightArrow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98064" y="16002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43784" y="1764792"/>
            <a:ext cx="868680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73B4C"/>
                </a:solidFill>
                <a:latin typeface="Microsoft JhengHei"/>
              </a:rPr>
              <a:t>資料清洗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785616" y="1764792"/>
            <a:ext cx="201168" cy="164592"/>
          </a:xfrm>
          <a:prstGeom prst="rightArrow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023360" y="16002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69080" y="1764792"/>
            <a:ext cx="868680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73B4C"/>
                </a:solidFill>
                <a:latin typeface="Microsoft JhengHei"/>
              </a:rPr>
              <a:t>統計分析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010912" y="1764792"/>
            <a:ext cx="201168" cy="164592"/>
          </a:xfrm>
          <a:prstGeom prst="rightArrow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248656" y="16002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94376" y="1764792"/>
            <a:ext cx="868680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73B4C"/>
                </a:solidFill>
                <a:latin typeface="Microsoft JhengHei"/>
              </a:rPr>
              <a:t>視覺化圖表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6236208" y="1764792"/>
            <a:ext cx="201168" cy="164592"/>
          </a:xfrm>
          <a:prstGeom prst="rightArrow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73952" y="16002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9672" y="1764792"/>
            <a:ext cx="868680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73B4C"/>
                </a:solidFill>
                <a:latin typeface="Microsoft JhengHei"/>
              </a:rPr>
              <a:t>Gradio 儀表板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461504" y="1764792"/>
            <a:ext cx="201168" cy="164592"/>
          </a:xfrm>
          <a:prstGeom prst="rightArrow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99248" y="1600200"/>
            <a:ext cx="960120" cy="566928"/>
          </a:xfrm>
          <a:prstGeom prst="roundRect">
            <a:avLst/>
          </a:prstGeom>
          <a:solidFill>
            <a:srgbClr val="FFFFFF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44968" y="1764792"/>
            <a:ext cx="868680" cy="14630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50" b="1">
                <a:solidFill>
                  <a:srgbClr val="073B4C"/>
                </a:solidFill>
                <a:latin typeface="Microsoft JhengHei"/>
              </a:rPr>
              <a:t>Docker 部署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2971800"/>
            <a:ext cx="960120" cy="25603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" y="3012948"/>
            <a:ext cx="96012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Python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606040" y="2971800"/>
            <a:ext cx="96012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606040" y="3012948"/>
            <a:ext cx="96012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Pandas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2971800"/>
            <a:ext cx="960120" cy="25603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51960" y="3012948"/>
            <a:ext cx="96012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NumPy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2971800"/>
            <a:ext cx="960120" cy="256032"/>
          </a:xfrm>
          <a:prstGeom prst="round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97880" y="3012948"/>
            <a:ext cx="96012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Matplotlib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0120" y="3410712"/>
            <a:ext cx="960120" cy="25603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0120" y="3451860"/>
            <a:ext cx="96012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Gradio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06040" y="3410712"/>
            <a:ext cx="960120" cy="256032"/>
          </a:xfrm>
          <a:prstGeom prst="round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606040" y="3451860"/>
            <a:ext cx="96012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Docker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51960" y="3410712"/>
            <a:ext cx="960120" cy="256032"/>
          </a:xfrm>
          <a:prstGeom prst="round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251960" y="3451860"/>
            <a:ext cx="960120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GitHub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資料來源與欄位說明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使用 sample_ocean_data.csv 作為展示資料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  <p:pic>
        <p:nvPicPr>
          <p:cNvPr id="7" name="Picture 6" descr="sample_data_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17168"/>
            <a:ext cx="3886200" cy="11226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709160" y="1005840"/>
            <a:ext cx="20116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73B4C"/>
                </a:solidFill>
                <a:latin typeface="Arial"/>
              </a:rPr>
              <a:t>date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1005840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2313F"/>
                </a:solidFill>
                <a:latin typeface="Microsoft JhengHei"/>
              </a:rPr>
              <a:t>日期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1389888"/>
            <a:ext cx="20116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73B4C"/>
                </a:solidFill>
                <a:latin typeface="Arial"/>
              </a:rPr>
              <a:t>station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1389888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2313F"/>
                </a:solidFill>
                <a:latin typeface="Microsoft JhengHei"/>
              </a:rPr>
              <a:t>測站名稱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60" y="1773936"/>
            <a:ext cx="20116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73B4C"/>
                </a:solidFill>
                <a:latin typeface="Arial"/>
              </a:rPr>
              <a:t>sea_temperature_c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2280" y="1773936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2313F"/>
                </a:solidFill>
                <a:latin typeface="Microsoft JhengHei"/>
              </a:rPr>
              <a:t>海溫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157984"/>
            <a:ext cx="20116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73B4C"/>
                </a:solidFill>
                <a:latin typeface="Arial"/>
              </a:rPr>
              <a:t>tide_level_m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2157984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2313F"/>
                </a:solidFill>
                <a:latin typeface="Microsoft JhengHei"/>
              </a:rPr>
              <a:t>潮位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542032"/>
            <a:ext cx="20116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73B4C"/>
                </a:solidFill>
                <a:latin typeface="Arial"/>
              </a:rPr>
              <a:t>wave_height_m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12280" y="2542032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2313F"/>
                </a:solidFill>
                <a:latin typeface="Microsoft JhengHei"/>
              </a:rPr>
              <a:t>浪高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2926080"/>
            <a:ext cx="20116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73B4C"/>
                </a:solidFill>
                <a:latin typeface="Arial"/>
              </a:rPr>
              <a:t>wind_speed_mps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12280" y="2926080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2313F"/>
                </a:solidFill>
                <a:latin typeface="Microsoft JhengHei"/>
              </a:rPr>
              <a:t>風速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09160" y="3310128"/>
            <a:ext cx="201168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1">
                <a:solidFill>
                  <a:srgbClr val="073B4C"/>
                </a:solidFill>
                <a:latin typeface="Arial"/>
              </a:rPr>
              <a:t>salinity_psu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310128"/>
            <a:ext cx="1463040" cy="20116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00" b="0">
                <a:solidFill>
                  <a:srgbClr val="12313F"/>
                </a:solidFill>
                <a:latin typeface="Microsoft JhengHei"/>
              </a:rPr>
              <a:t>鹽度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041648"/>
            <a:ext cx="7589520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400" b="0">
                <a:solidFill>
                  <a:srgbClr val="5A6B75"/>
                </a:solidFill>
                <a:latin typeface="Microsoft JhengHei"/>
              </a:rPr>
              <a:t>測站：Keelung、Taichung、Kaohsiung、Hualien、Taitung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資料清洗流程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分析前先讓資料格式一致，避免統計結果失真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170432"/>
            <a:ext cx="20574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1170432"/>
            <a:ext cx="73152" cy="804672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7552" y="1298448"/>
            <a:ext cx="180136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73B4C"/>
                </a:solidFill>
                <a:latin typeface="Microsoft JhengHei"/>
              </a:rPr>
              <a:t>原始資料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1645920"/>
            <a:ext cx="1801368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CSV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71800" y="1444752"/>
            <a:ext cx="411480" cy="201168"/>
          </a:xfrm>
          <a:prstGeom prst="rightArrow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11879" y="1170432"/>
            <a:ext cx="20574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11879" y="1170432"/>
            <a:ext cx="73152" cy="804672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76472" y="1298448"/>
            <a:ext cx="180136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73B4C"/>
                </a:solidFill>
                <a:latin typeface="Microsoft JhengHei"/>
              </a:rPr>
              <a:t>清洗規則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76472" y="1645920"/>
            <a:ext cx="1801368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Pandas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760720" y="1444752"/>
            <a:ext cx="411480" cy="201168"/>
          </a:xfrm>
          <a:prstGeom prst="rightArrow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0" y="1170432"/>
            <a:ext cx="205740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00800" y="1170432"/>
            <a:ext cx="73152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1298448"/>
            <a:ext cx="180136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73B4C"/>
                </a:solidFill>
                <a:latin typeface="Microsoft JhengHei"/>
              </a:rPr>
              <a:t>乾淨資料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1645920"/>
            <a:ext cx="1801368" cy="23774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Processed</a:t>
            </a:r>
          </a:p>
        </p:txBody>
      </p:sp>
      <p:sp>
        <p:nvSpPr>
          <p:cNvPr id="21" name="Oval 20"/>
          <p:cNvSpPr/>
          <p:nvPr/>
        </p:nvSpPr>
        <p:spPr>
          <a:xfrm>
            <a:off x="868680" y="2578608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2514600"/>
            <a:ext cx="72054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2313F"/>
                </a:solidFill>
                <a:latin typeface="Microsoft JhengHei"/>
              </a:rPr>
              <a:t>日期格式轉換：將 date 欄位轉成 datetime。</a:t>
            </a:r>
          </a:p>
        </p:txBody>
      </p:sp>
      <p:sp>
        <p:nvSpPr>
          <p:cNvPr id="23" name="Oval 22"/>
          <p:cNvSpPr/>
          <p:nvPr/>
        </p:nvSpPr>
        <p:spPr>
          <a:xfrm>
            <a:off x="868680" y="2907791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9848" y="2843784"/>
            <a:ext cx="72054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2313F"/>
                </a:solidFill>
                <a:latin typeface="Microsoft JhengHei"/>
              </a:rPr>
              <a:t>數值欄位轉換：海溫、潮位、浪高、風速、鹽度轉成 numeric。</a:t>
            </a:r>
          </a:p>
        </p:txBody>
      </p:sp>
      <p:sp>
        <p:nvSpPr>
          <p:cNvPr id="25" name="Oval 24"/>
          <p:cNvSpPr/>
          <p:nvPr/>
        </p:nvSpPr>
        <p:spPr>
          <a:xfrm>
            <a:off x="868680" y="3236975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3172968"/>
            <a:ext cx="72054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2313F"/>
                </a:solidFill>
                <a:latin typeface="Microsoft JhengHei"/>
              </a:rPr>
              <a:t>缺失值處理：數值欄位用平均值補值，測站缺失標記 Unknown。</a:t>
            </a:r>
          </a:p>
        </p:txBody>
      </p:sp>
      <p:sp>
        <p:nvSpPr>
          <p:cNvPr id="27" name="Oval 26"/>
          <p:cNvSpPr/>
          <p:nvPr/>
        </p:nvSpPr>
        <p:spPr>
          <a:xfrm>
            <a:off x="868680" y="3566160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69848" y="3502152"/>
            <a:ext cx="72054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2313F"/>
                </a:solidFill>
                <a:latin typeface="Microsoft JhengHei"/>
              </a:rPr>
              <a:t>重複資料處理：移除重複列，避免統計失真。</a:t>
            </a:r>
          </a:p>
        </p:txBody>
      </p:sp>
      <p:sp>
        <p:nvSpPr>
          <p:cNvPr id="29" name="Oval 28"/>
          <p:cNvSpPr/>
          <p:nvPr/>
        </p:nvSpPr>
        <p:spPr>
          <a:xfrm>
            <a:off x="868680" y="3895344"/>
            <a:ext cx="109728" cy="109728"/>
          </a:xfrm>
          <a:prstGeom prst="ellipse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69848" y="3831335"/>
            <a:ext cx="7205472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350" b="0">
                <a:solidFill>
                  <a:srgbClr val="12313F"/>
                </a:solidFill>
                <a:latin typeface="Microsoft JhengHei"/>
              </a:rPr>
              <a:t>資料排序：依日期排序，方便趨勢分析。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資料分析方法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以統計摘要、測站分組、月份平均與趨勢圖掌握資料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143000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143000"/>
            <a:ext cx="73152" cy="96012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1" y="1271016"/>
            <a:ext cx="32186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73B4C"/>
                </a:solidFill>
                <a:latin typeface="Microsoft JhengHei"/>
              </a:rPr>
              <a:t>整體統計摘要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618488"/>
            <a:ext cx="3218687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平均值、最大值、最小值、標準差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1143000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26280" y="1143000"/>
            <a:ext cx="73152" cy="96012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90872" y="1271016"/>
            <a:ext cx="32186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73B4C"/>
                </a:solidFill>
                <a:latin typeface="Microsoft JhengHei"/>
              </a:rPr>
              <a:t>測站分組統計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1618488"/>
            <a:ext cx="3218687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比較不同測站的各項環境差異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468880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2468880"/>
            <a:ext cx="73152" cy="9601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596896"/>
            <a:ext cx="32186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73B4C"/>
                </a:solidFill>
                <a:latin typeface="Microsoft JhengHei"/>
              </a:rPr>
              <a:t>月份平均分析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1" y="2944368"/>
            <a:ext cx="3218687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觀察不同月份的海洋環境變化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26280" y="2468880"/>
            <a:ext cx="34747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26280" y="2468880"/>
            <a:ext cx="73152" cy="9601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90872" y="2596896"/>
            <a:ext cx="321868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500" b="1">
                <a:solidFill>
                  <a:srgbClr val="073B4C"/>
                </a:solidFill>
                <a:latin typeface="Microsoft JhengHei"/>
              </a:rPr>
              <a:t>趨勢視覺化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90872" y="2944368"/>
            <a:ext cx="3218687" cy="3931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使用折線圖與長條圖呈現資料變化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視覺化結果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透過圖表快速觀察不同測站與不同時間的資料變化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10</a:t>
            </a:r>
          </a:p>
        </p:txBody>
      </p:sp>
      <p:pic>
        <p:nvPicPr>
          <p:cNvPr id="7" name="Picture 6" descr="sea_temperature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074" y="1005840"/>
            <a:ext cx="3600450" cy="1920240"/>
          </a:xfrm>
          <a:prstGeom prst="rect">
            <a:avLst/>
          </a:prstGeom>
        </p:spPr>
      </p:pic>
      <p:pic>
        <p:nvPicPr>
          <p:cNvPr id="8" name="Picture 7" descr="station_average_tempera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5021" y="1005840"/>
            <a:ext cx="3423036" cy="1920240"/>
          </a:xfrm>
          <a:prstGeom prst="rect">
            <a:avLst/>
          </a:prstGeom>
        </p:spPr>
      </p:pic>
      <p:pic>
        <p:nvPicPr>
          <p:cNvPr id="9" name="Picture 8" descr="wave_height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0185" y="2971800"/>
            <a:ext cx="2803629" cy="157276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系統展示與 Docker 部署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Gradio 介面負責互動操作，Docker 負責環境重現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11</a:t>
            </a:r>
          </a:p>
        </p:txBody>
      </p:sp>
      <p:pic>
        <p:nvPicPr>
          <p:cNvPr id="7" name="Picture 6" descr="ocean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976" y="1170432"/>
            <a:ext cx="3474471" cy="26974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532120" y="1078992"/>
            <a:ext cx="29718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532120" y="1078992"/>
            <a:ext cx="73152" cy="13258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96712" y="1207007"/>
            <a:ext cx="2715768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400" b="1">
                <a:solidFill>
                  <a:srgbClr val="073B4C"/>
                </a:solidFill>
                <a:latin typeface="Microsoft JhengHei"/>
              </a:rPr>
              <a:t>Gradio 介面功能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96712" y="1554480"/>
            <a:ext cx="2715768" cy="75895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050" b="0">
                <a:solidFill>
                  <a:srgbClr val="12313F"/>
                </a:solidFill>
                <a:latin typeface="Microsoft JhengHei"/>
              </a:rPr>
              <a:t>使用範例資料、上傳 CSV
選擇分析欄位、測站、圖表
顯示資料預覽、統計摘要與圖表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32120" y="2688336"/>
            <a:ext cx="2971800" cy="1078992"/>
          </a:xfrm>
          <a:prstGeom prst="roundRect">
            <a:avLst/>
          </a:prstGeom>
          <a:solidFill>
            <a:srgbClr val="F3F6F8"/>
          </a:solidFill>
          <a:ln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2779776"/>
            <a:ext cx="2743200" cy="82296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819" b="0">
                <a:solidFill>
                  <a:srgbClr val="12313F"/>
                </a:solidFill>
                <a:latin typeface="Arial"/>
              </a:rPr>
              <a:t>docker build -t ocean-data-dashboard
  -f docker/Dockerfile .
docker run -p 7860:7860
  ocean-data-dashboard
http://localhost:7860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3977639"/>
            <a:ext cx="841248" cy="256032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18787"/>
            <a:ext cx="841248" cy="128016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Microsoft JhengHei"/>
              </a:rPr>
              <a:t>Docker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6035040" cy="420624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2400" b="1">
                <a:solidFill>
                  <a:srgbClr val="073B4C"/>
                </a:solidFill>
                <a:latin typeface="Microsoft JhengHei"/>
              </a:rPr>
              <a:t>結論與未來改善方向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438912" y="786384"/>
            <a:ext cx="9601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912" y="896112"/>
            <a:ext cx="7132320" cy="292608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150" b="0">
                <a:solidFill>
                  <a:srgbClr val="5A6B75"/>
                </a:solidFill>
                <a:latin typeface="Microsoft JhengHei"/>
              </a:rPr>
              <a:t>完成從資料處理、分析視覺化到 Docker 部署的完整流程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078992"/>
            <a:ext cx="374903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078992"/>
            <a:ext cx="73152" cy="2148840"/>
          </a:xfrm>
          <a:prstGeom prst="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207007"/>
            <a:ext cx="349300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73B4C"/>
                </a:solidFill>
                <a:latin typeface="Microsoft JhengHei"/>
              </a:rPr>
              <a:t>專題成果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1554480"/>
            <a:ext cx="3493007" cy="1581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完成海洋環境資料讀取與清洗流程。
完成統計分析與視覺化功能。
建立 Gradio 互動式儀表板。
完成 Docker 容器化部署。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00600" y="1078992"/>
            <a:ext cx="3749039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00600" y="1078992"/>
            <a:ext cx="73152" cy="214884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65192" y="1207007"/>
            <a:ext cx="3493007" cy="27432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600" b="1">
                <a:solidFill>
                  <a:srgbClr val="073B4C"/>
                </a:solidFill>
                <a:latin typeface="Microsoft JhengHei"/>
              </a:rPr>
              <a:t>未來改善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65192" y="1554480"/>
            <a:ext cx="3493007" cy="158191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l"/>
            <a:r>
              <a:rPr sz="1200" b="0">
                <a:solidFill>
                  <a:srgbClr val="12313F"/>
                </a:solidFill>
                <a:latin typeface="Microsoft JhengHei"/>
              </a:rPr>
              <a:t>串接真實海洋觀測 API。
加入即時資料更新功能。
增加浪高或風速異常警示。
加入地圖視覺化顯示測站位置。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3822191"/>
            <a:ext cx="7406640" cy="502920"/>
          </a:xfrm>
          <a:prstGeom prst="roundRect">
            <a:avLst/>
          </a:prstGeom>
          <a:solidFill>
            <a:srgbClr val="073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68496"/>
            <a:ext cx="7086600" cy="182880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本專題展現巨量資料與雲端運算課程的技術整合能力。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85632" y="4645152"/>
            <a:ext cx="393192" cy="310896"/>
          </a:xfrm>
          <a:prstGeom prst="roundRect">
            <a:avLst/>
          </a:prstGeom>
          <a:solidFill>
            <a:srgbClr val="0077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85632" y="4668012"/>
            <a:ext cx="393192" cy="164592"/>
          </a:xfrm>
          <a:prstGeom prst="rect">
            <a:avLst/>
          </a:prstGeom>
          <a:noFill/>
        </p:spPr>
        <p:txBody>
          <a:bodyPr wrap="none" lIns="27432" rIns="27432" tIns="18288" bIns="18288" anchor="t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